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8"/>
  </p:notesMasterIdLst>
  <p:sldIdLst>
    <p:sldId id="257" r:id="rId2"/>
    <p:sldId id="289" r:id="rId3"/>
    <p:sldId id="286" r:id="rId4"/>
    <p:sldId id="282" r:id="rId5"/>
    <p:sldId id="291" r:id="rId6"/>
    <p:sldId id="292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Stile con tema 2 - Color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Stile con tema 2 - Color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Stile chiaro 1 - Color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05"/>
    <p:restoredTop sz="94679"/>
  </p:normalViewPr>
  <p:slideViewPr>
    <p:cSldViewPr snapToGrid="0">
      <p:cViewPr varScale="1">
        <p:scale>
          <a:sx n="73" d="100"/>
          <a:sy n="73" d="100"/>
        </p:scale>
        <p:origin x="22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D5342-CF02-5745-989F-9527E1235DDF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84ECB-2A3E-8549-9C24-785C5CE590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9666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1EE5F-D604-D842-44A2-12B3E1D88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74CA585-277C-C166-6AD5-E5D495418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58C27E-332E-52C7-C839-CC8190538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9ECF-52A3-8748-99E7-25BBB55F3D86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4A5B3B0-7E11-850B-1E3C-26A2565E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DA847D-40D5-36DF-A18A-4D3560D46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988D-56B2-B849-8E1D-6D24740BF3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373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3A3204-B744-F009-023B-130F10759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004A98-9833-4557-D662-CA86596B7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01C42F-07FD-7E9A-0B8C-64FFF803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9ECF-52A3-8748-99E7-25BBB55F3D86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ECD9CB-B473-466F-648D-096992C44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B0BBBC-D704-B4D0-8315-87B40E394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988D-56B2-B849-8E1D-6D24740BF3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6298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E154A-C83B-9BA0-D967-859E474C1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01E47BA-C02E-5F45-6330-E654CE1C1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12FE571-53E7-7953-37D6-C25A3C66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9ECF-52A3-8748-99E7-25BBB55F3D86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87C251-DC72-07BE-0637-630B21AD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CE0ED28-D952-1B8F-81A0-84DD9F60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988D-56B2-B849-8E1D-6D24740BF3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95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9822B2-C3F1-EB0E-1606-C430D9DAB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72849D-C507-0FD2-B031-60059DA52D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AFE73E-2FD1-743C-62B7-15F2809DA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5B4148-A715-C405-F986-224E56C55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9ECF-52A3-8748-99E7-25BBB55F3D86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70E287C-18AB-06A3-6526-A17E0729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6989E55-077C-92FB-B59F-FBEBC12E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988D-56B2-B849-8E1D-6D24740BF3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9202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1F5B73-3A92-E0A1-FF11-FD1075BBA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525647-45A9-9301-6F3B-0DA3F2A0D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BCFEC95-E319-D55F-22C6-CDEFA575A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E6983D7-EA71-07A4-8680-E80D2BE63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A2D864D-577A-966F-C702-E86CD570A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2BE814-6275-8F13-E81E-3847DD52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9ECF-52A3-8748-99E7-25BBB55F3D86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786E98C-09AA-0C33-D705-8F10B741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E5193E1-4A3B-A27D-E3FA-5B75E8AB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988D-56B2-B849-8E1D-6D24740BF3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049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5B0D81-0DA1-08AB-F246-F915E5FB0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16C7457-30B5-ACA8-1605-A53A351A0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9ECF-52A3-8748-99E7-25BBB55F3D86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5EA1B36-3472-05D0-647B-A555D60B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E1B7623-037D-38B6-E230-12886DE8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988D-56B2-B849-8E1D-6D24740BF3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7425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0A1F878-96F0-D66A-713A-E67A020C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9ECF-52A3-8748-99E7-25BBB55F3D86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E1A8F46-4410-A3B6-41AA-F47C441E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C07EDDE-D7CE-D54D-5D3D-CB901DF4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988D-56B2-B849-8E1D-6D24740BF3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6460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ED91EC-B526-7244-7534-741ABA907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8567D9-C502-03AB-B35A-33910805D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406C116-9C78-4640-3EBD-41993366B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3D33436-06B3-77C0-7530-EEEC1C5A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9ECF-52A3-8748-99E7-25BBB55F3D86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805EB07-7BF8-C687-7012-553ACDBB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FC02DD8-0120-48CA-71E4-5F1F8D823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988D-56B2-B849-8E1D-6D24740BF3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36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C98860-E29C-32E3-E132-13242C957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CF19367-D929-04A1-89B2-C451A6326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92FED70-17E8-C67A-FBAE-A365C0643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98C3E6B-52DF-571B-03FA-B70EC76FF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9ECF-52A3-8748-99E7-25BBB55F3D86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F634536-C867-16A2-1086-18F7FDD82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2E61E2A-C889-F74B-08AC-11AACA209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988D-56B2-B849-8E1D-6D24740BF3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8608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51CDA5-2E23-390C-9E8A-32FFA8C7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98599ED-0180-A36C-3DD1-11222EC51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5801003-4620-9D00-4573-36CE6D4B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9ECF-52A3-8748-99E7-25BBB55F3D86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BEF677-2144-05CD-88DE-609DF01B3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EA8CBE-C087-FEA3-70AC-5A76424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988D-56B2-B849-8E1D-6D24740BF3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2551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BD841FC-B64E-FFAC-0934-011786729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B14A32D-7B63-F8F1-FECA-7C0B138B8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0E0D68-3350-C452-1A29-62CB2A28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9ECF-52A3-8748-99E7-25BBB55F3D86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1A6C13-C096-23F5-8B47-5ACB1533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6C3FDF3-D98F-02CF-8D9F-4A6800C4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988D-56B2-B849-8E1D-6D24740BF3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4010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65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0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167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47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1129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4A84BC0-4E7E-1A32-79DA-D43167506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B9E585-4BB0-5FFF-DDED-850F7E6CE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FD128E-FB66-46C6-12EB-321BE017E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039ECF-52A3-8748-99E7-25BBB55F3D86}" type="datetimeFigureOut">
              <a:rPr lang="it-IT" smtClean="0"/>
              <a:t>03/05/25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DCDA68-3CE9-21C7-78A0-5A8CA9B11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50DEAC-C83C-9C8A-3CB1-47B5DB910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D988D-56B2-B849-8E1D-6D24740BF3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009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6524" y="3429000"/>
            <a:ext cx="5555476" cy="2940269"/>
          </a:xfrm>
        </p:spPr>
        <p:txBody>
          <a:bodyPr anchor="ctr"/>
          <a:lstStyle/>
          <a:p>
            <a:r>
              <a:rPr lang="en-US" dirty="0"/>
              <a:t>HOMEWORK 2 - CLASSIFICAZIONE DELLE IMMAGINI CIFAR-10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0994F16-B467-7BBE-025B-ABD3C457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371B35-A8CF-797B-E2D9-F9E12F8CCDA6}"/>
              </a:ext>
            </a:extLst>
          </p:cNvPr>
          <p:cNvSpPr txBox="1">
            <a:spLocks/>
          </p:cNvSpPr>
          <p:nvPr/>
        </p:nvSpPr>
        <p:spPr>
          <a:xfrm>
            <a:off x="678634" y="368174"/>
            <a:ext cx="6102048" cy="1056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DESCRIZIONE DEL DATASET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544D0CA-C3A5-6E7D-E0E6-05263C7ADB64}"/>
              </a:ext>
            </a:extLst>
          </p:cNvPr>
          <p:cNvSpPr txBox="1"/>
          <p:nvPr/>
        </p:nvSpPr>
        <p:spPr>
          <a:xfrm>
            <a:off x="678634" y="2324477"/>
            <a:ext cx="11070063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it-IT" sz="2000" b="1" dirty="0"/>
              <a:t>CIFAR-10</a:t>
            </a:r>
            <a:r>
              <a:rPr lang="it-IT" sz="2000" dirty="0"/>
              <a:t> è un dataset standard per la classificazione di immagini, composto da </a:t>
            </a:r>
            <a:r>
              <a:rPr lang="it-IT" sz="2000" b="1" dirty="0"/>
              <a:t>60.000 immagini a colori di 32x32 pixel</a:t>
            </a:r>
            <a:r>
              <a:rPr lang="it-IT" sz="2000" dirty="0"/>
              <a:t>, suddivise in </a:t>
            </a:r>
            <a:r>
              <a:rPr lang="it-IT" sz="2000" b="1" dirty="0"/>
              <a:t>10 classi bilanciate</a:t>
            </a:r>
            <a:r>
              <a:rPr lang="it-IT" sz="2000" dirty="0"/>
              <a:t>.</a:t>
            </a:r>
          </a:p>
          <a:p>
            <a:pPr>
              <a:buNone/>
            </a:pPr>
            <a:endParaRPr lang="it-IT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2000" b="1" dirty="0"/>
              <a:t>Composizione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b="1" dirty="0"/>
              <a:t>50.000</a:t>
            </a:r>
            <a:r>
              <a:rPr lang="it-IT" sz="2000" dirty="0"/>
              <a:t> immagini per il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b="1" dirty="0"/>
              <a:t>10.000</a:t>
            </a:r>
            <a:r>
              <a:rPr lang="it-IT" sz="2000" dirty="0"/>
              <a:t> per il test</a:t>
            </a:r>
          </a:p>
          <a:p>
            <a:pPr>
              <a:buFont typeface="Arial" panose="020B0604020202020204" pitchFamily="34" charset="0"/>
              <a:buChar char="•"/>
            </a:pPr>
            <a:endParaRPr lang="it-IT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 </a:t>
            </a:r>
            <a:r>
              <a:rPr lang="it-IT" sz="2000" b="1" dirty="0"/>
              <a:t>Classi</a:t>
            </a:r>
            <a:br>
              <a:rPr lang="it-IT" sz="2000" dirty="0"/>
            </a:br>
            <a:r>
              <a:rPr lang="it-IT" sz="2000" dirty="0"/>
              <a:t>Le </a:t>
            </a:r>
            <a:r>
              <a:rPr lang="it-IT" sz="2000" b="1" dirty="0"/>
              <a:t>classi</a:t>
            </a:r>
            <a:r>
              <a:rPr lang="it-IT" sz="2000" dirty="0"/>
              <a:t> sono: </a:t>
            </a:r>
            <a:r>
              <a:rPr lang="it-IT" sz="2000" i="1" dirty="0" err="1"/>
              <a:t>airplane</a:t>
            </a:r>
            <a:r>
              <a:rPr lang="it-IT" sz="2000" i="1" dirty="0"/>
              <a:t>, automobile, </a:t>
            </a:r>
            <a:r>
              <a:rPr lang="it-IT" sz="2000" i="1" dirty="0" err="1"/>
              <a:t>bird</a:t>
            </a:r>
            <a:r>
              <a:rPr lang="it-IT" sz="2000" i="1" dirty="0"/>
              <a:t>, </a:t>
            </a:r>
            <a:r>
              <a:rPr lang="it-IT" sz="2000" i="1" dirty="0" err="1"/>
              <a:t>cat</a:t>
            </a:r>
            <a:r>
              <a:rPr lang="it-IT" sz="2000" i="1" dirty="0"/>
              <a:t>, </a:t>
            </a:r>
            <a:r>
              <a:rPr lang="it-IT" sz="2000" i="1" dirty="0" err="1"/>
              <a:t>deer</a:t>
            </a:r>
            <a:r>
              <a:rPr lang="it-IT" sz="2000" i="1" dirty="0"/>
              <a:t>, dog, </a:t>
            </a:r>
            <a:r>
              <a:rPr lang="it-IT" sz="2000" i="1" dirty="0" err="1"/>
              <a:t>frog</a:t>
            </a:r>
            <a:r>
              <a:rPr lang="it-IT" sz="2000" i="1" dirty="0"/>
              <a:t>, </a:t>
            </a:r>
            <a:r>
              <a:rPr lang="it-IT" sz="2000" i="1" dirty="0" err="1"/>
              <a:t>horse</a:t>
            </a:r>
            <a:r>
              <a:rPr lang="it-IT" sz="2000" i="1" dirty="0"/>
              <a:t>, </a:t>
            </a:r>
            <a:r>
              <a:rPr lang="it-IT" sz="2000" i="1" dirty="0" err="1"/>
              <a:t>ship</a:t>
            </a:r>
            <a:r>
              <a:rPr lang="it-IT" sz="2000" i="1" dirty="0"/>
              <a:t>, truck</a:t>
            </a:r>
            <a:r>
              <a:rPr lang="it-IT" sz="2400" dirty="0"/>
              <a:t>.</a:t>
            </a:r>
          </a:p>
          <a:p>
            <a:pPr algn="l"/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3748535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2F814C-29C5-7A8F-1C89-95238459D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202" y="0"/>
            <a:ext cx="10300700" cy="1038863"/>
          </a:xfrm>
        </p:spPr>
        <p:txBody>
          <a:bodyPr>
            <a:normAutofit/>
          </a:bodyPr>
          <a:lstStyle/>
          <a:p>
            <a:r>
              <a:rPr lang="it-IT" dirty="0"/>
              <a:t>DESCRIZIONE</a:t>
            </a:r>
            <a:r>
              <a:rPr lang="it-IT" sz="3200" dirty="0"/>
              <a:t> DELLA METODOLOGIA ADOTTATA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1265C9-35F6-8454-2468-424394C89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8827" y="2072076"/>
            <a:ext cx="9776676" cy="45336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93663" indent="-93663">
              <a:buFont typeface="Arial" panose="020B0604020202020204" pitchFamily="34" charset="0"/>
              <a:buChar char="•"/>
            </a:pPr>
            <a:r>
              <a:rPr lang="it-IT" sz="2000" dirty="0">
                <a:ea typeface="+mn-lt"/>
                <a:cs typeface="+mn-lt"/>
              </a:rPr>
              <a:t> Caricamento e Normalizzazione del Dataset:</a:t>
            </a:r>
            <a:endParaRPr lang="it-IT" sz="2000" dirty="0"/>
          </a:p>
          <a:p>
            <a:r>
              <a:rPr lang="it-IT" sz="2000" b="0" dirty="0">
                <a:ea typeface="+mn-lt"/>
                <a:cs typeface="+mn-lt"/>
              </a:rPr>
              <a:t>Le immagini sono state normalizzate per ridurre la scala dei pixel da 0-255 a 0-1, facilitando l'addestramento dei modelli.</a:t>
            </a:r>
            <a:endParaRPr lang="it-IT" sz="2000" dirty="0"/>
          </a:p>
          <a:p>
            <a:pPr marL="46038" indent="-46038">
              <a:buFont typeface="Arial" panose="020B0604020202020204" pitchFamily="34" charset="0"/>
              <a:buChar char="•"/>
            </a:pPr>
            <a:r>
              <a:rPr lang="it-IT" sz="2000" dirty="0">
                <a:ea typeface="+mn-lt"/>
                <a:cs typeface="+mn-lt"/>
              </a:rPr>
              <a:t> </a:t>
            </a:r>
            <a:r>
              <a:rPr lang="it-IT" sz="2000" dirty="0" err="1">
                <a:ea typeface="+mn-lt"/>
                <a:cs typeface="+mn-lt"/>
              </a:rPr>
              <a:t>Flattening</a:t>
            </a:r>
            <a:r>
              <a:rPr lang="it-IT" sz="2000" dirty="0">
                <a:ea typeface="+mn-lt"/>
                <a:cs typeface="+mn-lt"/>
              </a:rPr>
              <a:t> delle immagini:</a:t>
            </a:r>
            <a:endParaRPr lang="it-IT" sz="2000" dirty="0"/>
          </a:p>
          <a:p>
            <a:r>
              <a:rPr lang="it-IT" sz="2000" b="0" dirty="0">
                <a:ea typeface="+mn-lt"/>
                <a:cs typeface="+mn-lt"/>
              </a:rPr>
              <a:t>Le immagini sono state appiattite da matrici 32x32x3 a vettori di dimensione 3072 per compatibilità con modelli di machine learning tradizionali. </a:t>
            </a:r>
          </a:p>
          <a:p>
            <a:pPr marL="46038" indent="-46038">
              <a:buFont typeface="Arial" panose="020B0604020202020204" pitchFamily="34" charset="0"/>
              <a:buChar char="•"/>
            </a:pPr>
            <a:r>
              <a:rPr lang="it-IT" sz="2000" dirty="0">
                <a:ea typeface="+mn-lt"/>
                <a:cs typeface="+mn-lt"/>
              </a:rPr>
              <a:t> Sotto-campionamento:</a:t>
            </a:r>
            <a:endParaRPr lang="it-IT" sz="2000" dirty="0"/>
          </a:p>
          <a:p>
            <a:r>
              <a:rPr lang="it-IT" sz="2000" b="0" dirty="0">
                <a:ea typeface="+mn-lt"/>
                <a:cs typeface="+mn-lt"/>
              </a:rPr>
              <a:t>Per accelerare l'allenamento, il dataset di training è stato ridotto a 5.000 immagini.</a:t>
            </a:r>
            <a:endParaRPr lang="it-IT" sz="2000" dirty="0"/>
          </a:p>
          <a:p>
            <a:endParaRPr lang="it-IT" sz="20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F72DDC6-CC59-9585-C0C7-CDE7EA87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65E0CD9-375C-9197-B08A-03B10B27836D}"/>
              </a:ext>
            </a:extLst>
          </p:cNvPr>
          <p:cNvSpPr txBox="1"/>
          <p:nvPr/>
        </p:nvSpPr>
        <p:spPr>
          <a:xfrm>
            <a:off x="1060202" y="1293860"/>
            <a:ext cx="719635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b="1" dirty="0"/>
              <a:t>STEP 1 – </a:t>
            </a:r>
            <a:r>
              <a:rPr lang="it-IT" sz="2800" b="1" dirty="0">
                <a:ea typeface="+mn-lt"/>
                <a:cs typeface="+mn-lt"/>
              </a:rPr>
              <a:t>PRE-PROCESSING DEL DATASET</a:t>
            </a:r>
          </a:p>
        </p:txBody>
      </p:sp>
    </p:spTree>
    <p:extLst>
      <p:ext uri="{BB962C8B-B14F-4D97-AF65-F5344CB8AC3E}">
        <p14:creationId xmlns:p14="http://schemas.microsoft.com/office/powerpoint/2010/main" val="1974130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562" y="961697"/>
            <a:ext cx="9593941" cy="1164646"/>
          </a:xfrm>
        </p:spPr>
        <p:txBody>
          <a:bodyPr/>
          <a:lstStyle/>
          <a:p>
            <a:r>
              <a:rPr lang="en-US" b="1" dirty="0"/>
              <a:t>STEP 2 – STANDARDIZZAZIONE E PCA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1FC9DB9-27D5-F2FC-BD54-25EAA172D25F}"/>
              </a:ext>
            </a:extLst>
          </p:cNvPr>
          <p:cNvSpPr txBox="1"/>
          <p:nvPr/>
        </p:nvSpPr>
        <p:spPr>
          <a:xfrm>
            <a:off x="1341120" y="2654052"/>
            <a:ext cx="9943750" cy="22775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4288" indent="-14288">
              <a:buFont typeface="Arial" panose="020B0604020202020204" pitchFamily="34" charset="0"/>
              <a:buChar char="•"/>
            </a:pPr>
            <a:r>
              <a:rPr lang="it-IT" sz="2000" b="1" dirty="0">
                <a:ea typeface="+mn-lt"/>
                <a:cs typeface="+mn-lt"/>
              </a:rPr>
              <a:t> Standardizzazione dei dati:</a:t>
            </a:r>
          </a:p>
          <a:p>
            <a:r>
              <a:rPr lang="it-IT" sz="2000" dirty="0">
                <a:ea typeface="+mn-lt"/>
                <a:cs typeface="+mn-lt"/>
              </a:rPr>
              <a:t>Standardizzazione dei dati tramite </a:t>
            </a:r>
            <a:r>
              <a:rPr lang="it-IT" sz="2000" dirty="0" err="1">
                <a:ea typeface="+mn-lt"/>
                <a:cs typeface="+mn-lt"/>
              </a:rPr>
              <a:t>StandardScaler</a:t>
            </a:r>
            <a:r>
              <a:rPr lang="it-IT" sz="2000" dirty="0">
                <a:ea typeface="+mn-lt"/>
                <a:cs typeface="+mn-lt"/>
              </a:rPr>
              <a:t>.</a:t>
            </a:r>
          </a:p>
          <a:p>
            <a:endParaRPr lang="it-IT" sz="2000" dirty="0">
              <a:ea typeface="+mn-lt"/>
              <a:cs typeface="+mn-lt"/>
            </a:endParaRPr>
          </a:p>
          <a:p>
            <a:pPr marL="14288" indent="-14288">
              <a:buFont typeface="Arial" panose="020B0604020202020204" pitchFamily="34" charset="0"/>
              <a:buChar char="•"/>
            </a:pPr>
            <a:r>
              <a:rPr lang="it-IT" sz="2000" b="1" dirty="0">
                <a:ea typeface="+mn-lt"/>
                <a:cs typeface="+mn-lt"/>
              </a:rPr>
              <a:t> Riduzione dimensionale con PCA:</a:t>
            </a:r>
          </a:p>
          <a:p>
            <a:r>
              <a:rPr lang="it-IT" sz="2000" dirty="0">
                <a:ea typeface="+mn-lt"/>
                <a:cs typeface="+mn-lt"/>
              </a:rPr>
              <a:t>Si è scelto di applicare il PCA per ridurre la dimensionalità dei dati da 3072 a 97 componenti principali, mantenendo il 90% della varianza</a:t>
            </a:r>
            <a:r>
              <a:rPr lang="it-IT" sz="2400" dirty="0">
                <a:ea typeface="+mn-lt"/>
                <a:cs typeface="+mn-lt"/>
              </a:rPr>
              <a:t>.</a:t>
            </a:r>
            <a:endParaRPr lang="it-IT" sz="2400" dirty="0"/>
          </a:p>
          <a:p>
            <a:pPr algn="l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B4DEF09-95F9-0CFC-AEE7-BF87516C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7912B20-C246-99CF-4393-A6E0AD8EB653}"/>
              </a:ext>
            </a:extLst>
          </p:cNvPr>
          <p:cNvSpPr txBox="1"/>
          <p:nvPr/>
        </p:nvSpPr>
        <p:spPr>
          <a:xfrm>
            <a:off x="831098" y="619376"/>
            <a:ext cx="96845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STEP 3 – ADDESTRAMENTO E VALUTAZIONE DEI MODELLI</a:t>
            </a:r>
            <a:endParaRPr lang="it-IT" sz="28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96D30F8-24B4-85F0-62F6-5C936CE48E8A}"/>
              </a:ext>
            </a:extLst>
          </p:cNvPr>
          <p:cNvSpPr txBox="1">
            <a:spLocks/>
          </p:cNvSpPr>
          <p:nvPr/>
        </p:nvSpPr>
        <p:spPr>
          <a:xfrm>
            <a:off x="831098" y="1468249"/>
            <a:ext cx="11040336" cy="50706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it-IT" sz="2000" b="1" dirty="0">
                <a:ea typeface="+mn-lt"/>
                <a:cs typeface="+mn-lt"/>
              </a:rPr>
              <a:t>Modelli di classificazione testati:</a:t>
            </a:r>
          </a:p>
          <a:p>
            <a:pPr marL="571500" indent="-285750"/>
            <a:r>
              <a:rPr lang="en-US" sz="2000" dirty="0">
                <a:ea typeface="+mn-lt"/>
                <a:cs typeface="+mn-lt"/>
              </a:rPr>
              <a:t>K-Nearest Neighbors (k-NN)</a:t>
            </a:r>
            <a:endParaRPr lang="en-US" sz="2000" dirty="0"/>
          </a:p>
          <a:p>
            <a:pPr marL="571500" indent="-285750">
              <a:buFont typeface="Arial"/>
              <a:buChar char="•"/>
            </a:pPr>
            <a:r>
              <a:rPr lang="en-US" sz="2000" dirty="0" err="1">
                <a:ea typeface="+mn-lt"/>
                <a:cs typeface="+mn-lt"/>
              </a:rPr>
              <a:t>Regressione</a:t>
            </a:r>
            <a:r>
              <a:rPr lang="en-US" sz="2000" dirty="0">
                <a:ea typeface="+mn-lt"/>
                <a:cs typeface="+mn-lt"/>
              </a:rPr>
              <a:t> Logistica</a:t>
            </a:r>
            <a:endParaRPr lang="en-US" sz="2000" dirty="0"/>
          </a:p>
          <a:p>
            <a:pPr marL="57150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Support Vector Machine (SVM)</a:t>
            </a:r>
            <a:endParaRPr lang="en-US" sz="2000" dirty="0"/>
          </a:p>
          <a:p>
            <a:pPr marL="57150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Decision Tree</a:t>
            </a:r>
          </a:p>
          <a:p>
            <a:pPr marL="571500" indent="-285750">
              <a:buFont typeface="Arial"/>
              <a:buChar char="•"/>
            </a:pPr>
            <a:endParaRPr lang="en-US" sz="2000" dirty="0"/>
          </a:p>
          <a:p>
            <a:pPr marL="46038" indent="-31750"/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Ottimizzazione</a:t>
            </a:r>
            <a:r>
              <a:rPr lang="en-US" sz="2000" b="1" dirty="0">
                <a:ea typeface="+mn-lt"/>
                <a:cs typeface="+mn-lt"/>
              </a:rPr>
              <a:t> con </a:t>
            </a:r>
            <a:r>
              <a:rPr lang="it-IT" sz="2000" b="1" dirty="0" err="1"/>
              <a:t>GridSearchCV</a:t>
            </a:r>
            <a:r>
              <a:rPr lang="en-US" sz="2000" b="1" dirty="0">
                <a:ea typeface="+mn-lt"/>
                <a:cs typeface="+mn-lt"/>
              </a:rPr>
              <a:t>:</a:t>
            </a:r>
          </a:p>
          <a:p>
            <a:pPr marL="14288" indent="0">
              <a:buNone/>
            </a:pPr>
            <a:r>
              <a:rPr lang="en-US" sz="2000" dirty="0" err="1">
                <a:ea typeface="+mn-lt"/>
                <a:cs typeface="+mn-lt"/>
              </a:rPr>
              <a:t>Ricerca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dei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migliori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iperparametri</a:t>
            </a:r>
            <a:r>
              <a:rPr lang="en-US" sz="2000" dirty="0">
                <a:ea typeface="+mn-lt"/>
                <a:cs typeface="+mn-lt"/>
              </a:rPr>
              <a:t> per </a:t>
            </a:r>
            <a:r>
              <a:rPr lang="en-US" sz="2000" dirty="0" err="1">
                <a:ea typeface="+mn-lt"/>
                <a:cs typeface="+mn-lt"/>
              </a:rPr>
              <a:t>ciascun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modello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tramite</a:t>
            </a:r>
            <a:r>
              <a:rPr lang="en-US" sz="2000" dirty="0">
                <a:ea typeface="+mn-lt"/>
                <a:cs typeface="+mn-lt"/>
              </a:rPr>
              <a:t> Grid Search con </a:t>
            </a:r>
            <a:r>
              <a:rPr lang="en-US" sz="2000" dirty="0" err="1">
                <a:ea typeface="+mn-lt"/>
                <a:cs typeface="+mn-lt"/>
              </a:rPr>
              <a:t>validazione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incrociata</a:t>
            </a:r>
            <a:r>
              <a:rPr lang="en-US" sz="2000" dirty="0">
                <a:ea typeface="+mn-lt"/>
                <a:cs typeface="+mn-lt"/>
              </a:rPr>
              <a:t> (5-fold).</a:t>
            </a:r>
          </a:p>
          <a:p>
            <a:pPr marL="14288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14288" indent="0"/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Metriche</a:t>
            </a:r>
            <a:r>
              <a:rPr lang="en-US" sz="2000" b="1" dirty="0">
                <a:ea typeface="+mn-lt"/>
                <a:cs typeface="+mn-lt"/>
              </a:rPr>
              <a:t> di </a:t>
            </a:r>
            <a:r>
              <a:rPr lang="en-US" sz="2000" b="1" dirty="0" err="1">
                <a:ea typeface="+mn-lt"/>
                <a:cs typeface="+mn-lt"/>
              </a:rPr>
              <a:t>valutazione</a:t>
            </a:r>
            <a:r>
              <a:rPr lang="en-US" sz="2000" dirty="0">
                <a:ea typeface="+mn-lt"/>
                <a:cs typeface="+mn-lt"/>
              </a:rPr>
              <a:t>: Accuracy, Precision, Recall, F1-score, Confusion Matrix</a:t>
            </a:r>
          </a:p>
          <a:p>
            <a:pPr marL="28575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57150" indent="0">
              <a:buNone/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919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A4F779D-84B4-6069-C495-0827F4BCB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C1A6A904-EFBB-8BB1-22CF-CEC62E243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555" y="405664"/>
            <a:ext cx="5770381" cy="745970"/>
          </a:xfrm>
        </p:spPr>
        <p:txBody>
          <a:bodyPr/>
          <a:lstStyle/>
          <a:p>
            <a:r>
              <a:rPr lang="it-IT" b="1" dirty="0"/>
              <a:t>STEP 4 – RISULTATI DEI MODELLI</a:t>
            </a: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EF9ABEEE-2D2F-8F05-A158-6158D469E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026967"/>
              </p:ext>
            </p:extLst>
          </p:nvPr>
        </p:nvGraphicFramePr>
        <p:xfrm>
          <a:off x="508555" y="2501899"/>
          <a:ext cx="5186832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593416">
                  <a:extLst>
                    <a:ext uri="{9D8B030D-6E8A-4147-A177-3AD203B41FA5}">
                      <a16:colId xmlns:a16="http://schemas.microsoft.com/office/drawing/2014/main" val="3540300003"/>
                    </a:ext>
                  </a:extLst>
                </a:gridCol>
                <a:gridCol w="2593416">
                  <a:extLst>
                    <a:ext uri="{9D8B030D-6E8A-4147-A177-3AD203B41FA5}">
                      <a16:colId xmlns:a16="http://schemas.microsoft.com/office/drawing/2014/main" val="1320831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MODELLO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252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K-NN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dirty="0"/>
                        <a:t>0.3137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25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dirty="0"/>
                        <a:t>0.3695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86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dirty="0"/>
                        <a:t>0.4424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38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dirty="0"/>
                        <a:t>0.2559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0794"/>
                  </a:ext>
                </a:extLst>
              </a:tr>
            </a:tbl>
          </a:graphicData>
        </a:graphic>
      </p:graphicFrame>
      <p:pic>
        <p:nvPicPr>
          <p:cNvPr id="10" name="Immagine 9" descr="Immagine che contiene testo, schermata, linea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87D4ABCF-A1D6-874D-24C4-AA3A3CA9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41" y="1694311"/>
            <a:ext cx="5755023" cy="346937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FC5F7B4-8017-968C-6E31-751B4BAFE70E}"/>
              </a:ext>
            </a:extLst>
          </p:cNvPr>
          <p:cNvSpPr txBox="1"/>
          <p:nvPr/>
        </p:nvSpPr>
        <p:spPr>
          <a:xfrm>
            <a:off x="340977" y="4602023"/>
            <a:ext cx="552198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dirty="0">
                <a:ea typeface="+mn-lt"/>
                <a:cs typeface="+mn-lt"/>
              </a:rPr>
              <a:t>Il modello con la </a:t>
            </a:r>
            <a:r>
              <a:rPr lang="it-IT" b="1" dirty="0">
                <a:ea typeface="+mn-lt"/>
                <a:cs typeface="+mn-lt"/>
              </a:rPr>
              <a:t>migliore accuratezza</a:t>
            </a:r>
            <a:r>
              <a:rPr lang="it-IT" dirty="0">
                <a:ea typeface="+mn-lt"/>
                <a:cs typeface="+mn-lt"/>
              </a:rPr>
              <a:t> è risultato essere </a:t>
            </a:r>
            <a:r>
              <a:rPr lang="it-IT" b="1" dirty="0">
                <a:ea typeface="+mn-lt"/>
                <a:cs typeface="+mn-lt"/>
              </a:rPr>
              <a:t>SVM</a:t>
            </a:r>
            <a:r>
              <a:rPr lang="it-IT" dirty="0">
                <a:ea typeface="+mn-lt"/>
                <a:cs typeface="+mn-lt"/>
              </a:rPr>
              <a:t> con </a:t>
            </a:r>
            <a:r>
              <a:rPr lang="it-IT" b="1" dirty="0">
                <a:ea typeface="+mn-lt"/>
                <a:cs typeface="+mn-lt"/>
              </a:rPr>
              <a:t>accuratezza del 44,24</a:t>
            </a:r>
            <a:r>
              <a:rPr lang="it-IT" dirty="0">
                <a:ea typeface="+mn-lt"/>
                <a:cs typeface="+mn-lt"/>
              </a:rPr>
              <a:t>%.</a:t>
            </a:r>
            <a:endParaRPr lang="it-IT" dirty="0"/>
          </a:p>
          <a:p>
            <a:pPr marL="285750" indent="-285750">
              <a:buFont typeface="Arial"/>
              <a:buChar char="•"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29862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</TotalTime>
  <Words>311</Words>
  <Application>Microsoft Macintosh PowerPoint</Application>
  <PresentationFormat>Widescreen</PresentationFormat>
  <Paragraphs>55</Paragraphs>
  <Slides>6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di Office</vt:lpstr>
      <vt:lpstr>HOMEWORK 2 - CLASSIFICAZIONE DELLE IMMAGINI CIFAR-10</vt:lpstr>
      <vt:lpstr>Presentazione standard di PowerPoint</vt:lpstr>
      <vt:lpstr>DESCRIZIONE DELLA METODOLOGIA ADOTTATA</vt:lpstr>
      <vt:lpstr>STEP 2 – STANDARDIZZAZIONE E PCA</vt:lpstr>
      <vt:lpstr>Presentazione standard di PowerPoint</vt:lpstr>
      <vt:lpstr>STEP 4 – RISULTATI DEI MODELLI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ROSARIA PARISI</dc:creator>
  <cp:lastModifiedBy>ROSARIA PARISI</cp:lastModifiedBy>
  <cp:revision>10</cp:revision>
  <dcterms:created xsi:type="dcterms:W3CDTF">2025-05-02T15:40:45Z</dcterms:created>
  <dcterms:modified xsi:type="dcterms:W3CDTF">2025-05-03T09:39:50Z</dcterms:modified>
</cp:coreProperties>
</file>